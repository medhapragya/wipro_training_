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8288000" cy="10287000"/>
  <p:notesSz cx="6858000" cy="9144000"/>
  <p:embeddedFontLst>
    <p:embeddedFont>
      <p:font typeface="Oswald Bold" panose="00000800000000000000"/>
      <p:bold r:id="rId17"/>
    </p:embeddedFont>
    <p:embeddedFont>
      <p:font typeface="Poppins Bold" panose="00000800000000000000"/>
      <p:bold r:id="rId18"/>
    </p:embeddedFont>
    <p:embeddedFont>
      <p:font typeface="Poppins" panose="00000500000000000000"/>
      <p:regular r:id="rId19"/>
    </p:embeddedFont>
    <p:embeddedFont>
      <p:font typeface="Calibri" panose="020F050202020403020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jpe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80009" y="-1519728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695454" y="6826250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1653871" y="5529564"/>
            <a:ext cx="6492240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9741914" y="2666730"/>
            <a:ext cx="4953540" cy="4953540"/>
          </a:xfrm>
          <a:custGeom>
            <a:avLst/>
            <a:gdLst/>
            <a:ahLst/>
            <a:cxnLst/>
            <a:rect l="l" t="t" r="r" b="b"/>
            <a:pathLst>
              <a:path w="4953540" h="4953540">
                <a:moveTo>
                  <a:pt x="0" y="0"/>
                </a:moveTo>
                <a:lnTo>
                  <a:pt x="4953540" y="0"/>
                </a:lnTo>
                <a:lnTo>
                  <a:pt x="4953540" y="4953540"/>
                </a:lnTo>
                <a:lnTo>
                  <a:pt x="0" y="49535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3841751"/>
            <a:ext cx="6790245" cy="1301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00"/>
              </a:lnSpc>
            </a:pPr>
            <a:r>
              <a:rPr lang="en-US" sz="10000" b="1">
                <a:solidFill>
                  <a:srgbClr val="000000"/>
                </a:solidFill>
                <a:latin typeface="Oswald Bold" panose="00000800000000000000"/>
                <a:ea typeface="Oswald Bold" panose="00000800000000000000"/>
                <a:cs typeface="Oswald Bold" panose="00000800000000000000"/>
                <a:sym typeface="Oswald Bold" panose="00000800000000000000"/>
              </a:rPr>
              <a:t>        GIT</a:t>
            </a:r>
            <a:endParaRPr lang="en-US" sz="10000" b="1">
              <a:solidFill>
                <a:srgbClr val="000000"/>
              </a:solidFill>
              <a:latin typeface="Oswald Bold" panose="00000800000000000000"/>
              <a:ea typeface="Oswald Bold" panose="00000800000000000000"/>
              <a:cs typeface="Oswald Bold" panose="00000800000000000000"/>
              <a:sym typeface="Oswald Bold" panose="000008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3597698" y="-1769921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3108709" y="7013575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55215" y="3289575"/>
            <a:ext cx="9157386" cy="5002222"/>
          </a:xfrm>
          <a:custGeom>
            <a:avLst/>
            <a:gdLst/>
            <a:ahLst/>
            <a:cxnLst/>
            <a:rect l="l" t="t" r="r" b="b"/>
            <a:pathLst>
              <a:path w="9157386" h="5002222">
                <a:moveTo>
                  <a:pt x="0" y="0"/>
                </a:moveTo>
                <a:lnTo>
                  <a:pt x="9157386" y="0"/>
                </a:lnTo>
                <a:lnTo>
                  <a:pt x="9157386" y="5002222"/>
                </a:lnTo>
                <a:lnTo>
                  <a:pt x="0" y="50022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2206158" y="4050785"/>
            <a:ext cx="5053142" cy="3365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600"/>
              </a:lnSpc>
            </a:pPr>
            <a:r>
              <a:rPr lang="en-US" sz="4000" b="1">
                <a:solidFill>
                  <a:srgbClr val="0000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  What is Git ?</a:t>
            </a:r>
            <a:endParaRPr lang="en-US" sz="4000" b="1">
              <a:solidFill>
                <a:srgbClr val="00000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marL="539750" lvl="1" indent="-269875" algn="just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 distributed version control system for tracking changes in computer files.</a:t>
            </a:r>
            <a:endParaRPr lang="en-US" sz="25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539750" lvl="1" indent="-269875" algn="just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Primarily used for source code management (SCM) in software development.</a:t>
            </a:r>
            <a:endParaRPr lang="en-US" sz="25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-1629460" y="1311098"/>
            <a:ext cx="14526737" cy="1033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60"/>
              </a:lnSpc>
            </a:pPr>
            <a:r>
              <a:rPr lang="en-US" sz="8000" b="1">
                <a:solidFill>
                  <a:srgbClr val="000000"/>
                </a:solidFill>
                <a:latin typeface="Oswald Bold" panose="00000800000000000000"/>
                <a:ea typeface="Oswald Bold" panose="00000800000000000000"/>
                <a:cs typeface="Oswald Bold" panose="00000800000000000000"/>
                <a:sym typeface="Oswald Bold" panose="00000800000000000000"/>
              </a:rPr>
              <a:t> INTRODUCTION</a:t>
            </a:r>
            <a:r>
              <a:rPr lang="en-US" sz="8000" b="1">
                <a:solidFill>
                  <a:srgbClr val="000000"/>
                </a:solidFill>
                <a:latin typeface="Oswald Bold" panose="00000800000000000000"/>
                <a:ea typeface="Oswald Bold" panose="00000800000000000000"/>
                <a:cs typeface="Oswald Bold" panose="00000800000000000000"/>
                <a:sym typeface="Oswald Bold" panose="00000800000000000000"/>
              </a:rPr>
              <a:t> TO GIT</a:t>
            </a:r>
            <a:endParaRPr lang="en-US" sz="8000" b="1">
              <a:solidFill>
                <a:srgbClr val="000000"/>
              </a:solidFill>
              <a:latin typeface="Oswald Bold" panose="00000800000000000000"/>
              <a:ea typeface="Oswald Bold" panose="00000800000000000000"/>
              <a:cs typeface="Oswald Bold" panose="00000800000000000000"/>
              <a:sym typeface="Oswald Bold" panose="0000080000000000000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8685050" y="2035320"/>
            <a:ext cx="7292327" cy="554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80"/>
              </a:lnSpc>
            </a:pPr>
            <a:r>
              <a:rPr lang="en-US" sz="4000" b="1">
                <a:solidFill>
                  <a:srgbClr val="0000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KEY CAPA</a:t>
            </a:r>
            <a:r>
              <a:rPr lang="en-US" sz="4000" b="1">
                <a:solidFill>
                  <a:srgbClr val="0000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BILITIES:</a:t>
            </a:r>
            <a:endParaRPr lang="en-US" sz="4000" b="1">
              <a:solidFill>
                <a:srgbClr val="00000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8685050" y="2961785"/>
            <a:ext cx="7292327" cy="175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0" lvl="1" indent="-269875" algn="just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Allows mult</a:t>
            </a: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iple developers to collaborate efficiently.</a:t>
            </a:r>
            <a:endParaRPr lang="en-US" sz="25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539750" lvl="1" indent="-269875" algn="just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Supports non-linear development through parallel branches.</a:t>
            </a:r>
            <a:endParaRPr lang="en-US" sz="25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-2080009" y="-1519728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695454" y="6826250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685050" y="5203335"/>
            <a:ext cx="7292327" cy="554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80"/>
              </a:lnSpc>
            </a:pPr>
            <a:r>
              <a:rPr lang="en-US" sz="4000" b="1">
                <a:solidFill>
                  <a:srgbClr val="0000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FEATURES:</a:t>
            </a:r>
            <a:endParaRPr lang="en-US" sz="4000" b="1">
              <a:solidFill>
                <a:srgbClr val="00000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685050" y="6196474"/>
            <a:ext cx="7292327" cy="1317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0" lvl="1" indent="-269875" algn="just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Tracks h</a:t>
            </a: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istory, creates backups, and is scalable.</a:t>
            </a:r>
            <a:endParaRPr lang="en-US" sz="25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539750" lvl="1" indent="-269875" algn="just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Free, open-source, and distributed.</a:t>
            </a:r>
            <a:endParaRPr lang="en-US" sz="25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9" name="Freeform 5"/>
          <p:cNvSpPr/>
          <p:nvPr/>
        </p:nvSpPr>
        <p:spPr>
          <a:xfrm>
            <a:off x="2285744" y="2628630"/>
            <a:ext cx="4953540" cy="4953540"/>
          </a:xfrm>
          <a:custGeom>
            <a:avLst/>
            <a:gdLst/>
            <a:ahLst/>
            <a:cxnLst/>
            <a:rect l="l" t="t" r="r" b="b"/>
            <a:pathLst>
              <a:path w="4953540" h="4953540">
                <a:moveTo>
                  <a:pt x="0" y="0"/>
                </a:moveTo>
                <a:lnTo>
                  <a:pt x="4953540" y="0"/>
                </a:lnTo>
                <a:lnTo>
                  <a:pt x="4953540" y="4953540"/>
                </a:lnTo>
                <a:lnTo>
                  <a:pt x="0" y="49535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3597698" y="-1769921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3108709" y="7013575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904679" y="6102350"/>
            <a:ext cx="6565455" cy="175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0" lvl="1" indent="-269875" algn="just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Enables collaborat</a:t>
            </a: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ion and creates a centralized location for code.</a:t>
            </a:r>
            <a:endParaRPr lang="en-US" sz="25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539750" lvl="1" indent="-269875" algn="just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Streamlines development and helps resolve conflicts.</a:t>
            </a:r>
            <a:endParaRPr lang="en-US" sz="25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30813" y="1427938"/>
            <a:ext cx="14623703" cy="1033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60"/>
              </a:lnSpc>
            </a:pPr>
            <a:r>
              <a:rPr lang="en-US" sz="8000" b="1">
                <a:solidFill>
                  <a:srgbClr val="000000"/>
                </a:solidFill>
                <a:latin typeface="Oswald Bold" panose="00000800000000000000"/>
                <a:ea typeface="Oswald Bold" panose="00000800000000000000"/>
                <a:cs typeface="Oswald Bold" panose="00000800000000000000"/>
                <a:sym typeface="Oswald Bold" panose="00000800000000000000"/>
              </a:rPr>
              <a:t> WHY USE VERSION</a:t>
            </a:r>
            <a:r>
              <a:rPr lang="en-US" sz="8000" b="1">
                <a:solidFill>
                  <a:srgbClr val="000000"/>
                </a:solidFill>
                <a:latin typeface="Oswald Bold" panose="00000800000000000000"/>
                <a:ea typeface="Oswald Bold" panose="00000800000000000000"/>
                <a:cs typeface="Oswald Bold" panose="00000800000000000000"/>
                <a:sym typeface="Oswald Bold" panose="00000800000000000000"/>
              </a:rPr>
              <a:t> CONTROL?</a:t>
            </a:r>
            <a:endParaRPr lang="en-US" sz="8000" b="1">
              <a:solidFill>
                <a:srgbClr val="000000"/>
              </a:solidFill>
              <a:latin typeface="Oswald Bold" panose="00000800000000000000"/>
              <a:ea typeface="Oswald Bold" panose="00000800000000000000"/>
              <a:cs typeface="Oswald Bold" panose="00000800000000000000"/>
              <a:sym typeface="Oswald Bold" panose="000008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230813" y="4838813"/>
            <a:ext cx="7913187" cy="554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0"/>
              </a:lnSpc>
            </a:pPr>
            <a:r>
              <a:rPr lang="en-US" sz="4000" b="1">
                <a:solidFill>
                  <a:srgbClr val="0000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PURPOSE:</a:t>
            </a:r>
            <a:endParaRPr lang="en-US" sz="4000" b="1">
              <a:solidFill>
                <a:srgbClr val="00000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641105" y="4838813"/>
            <a:ext cx="7913187" cy="554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0"/>
              </a:lnSpc>
            </a:pPr>
            <a:r>
              <a:rPr lang="en-US" sz="4000" b="1">
                <a:solidFill>
                  <a:srgbClr val="0000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TRACKING:</a:t>
            </a:r>
            <a:endParaRPr lang="en-US" sz="4000" b="1">
              <a:solidFill>
                <a:srgbClr val="00000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314971" y="6102350"/>
            <a:ext cx="6565455" cy="175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0" lvl="1" indent="-269875" algn="just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Tracks wh</a:t>
            </a: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 made changes, what was changed, and when.</a:t>
            </a:r>
            <a:endParaRPr lang="en-US" sz="25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539750" lvl="1" indent="-269875" algn="just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Prevents concurrent work from conflicting.</a:t>
            </a:r>
            <a:endParaRPr lang="en-US" sz="25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95454" y="6826250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028700" y="1028700"/>
            <a:ext cx="5855783" cy="8229600"/>
            <a:chOff x="0" y="0"/>
            <a:chExt cx="907214" cy="12749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07214" cy="1274980"/>
            </a:xfrm>
            <a:custGeom>
              <a:avLst/>
              <a:gdLst/>
              <a:ahLst/>
              <a:cxnLst/>
              <a:rect l="l" t="t" r="r" b="b"/>
              <a:pathLst>
                <a:path w="907214" h="1274980">
                  <a:moveTo>
                    <a:pt x="0" y="0"/>
                  </a:moveTo>
                  <a:lnTo>
                    <a:pt x="907214" y="0"/>
                  </a:lnTo>
                  <a:lnTo>
                    <a:pt x="907214" y="1274980"/>
                  </a:lnTo>
                  <a:lnTo>
                    <a:pt x="0" y="1274980"/>
                  </a:lnTo>
                  <a:close/>
                </a:path>
              </a:pathLst>
            </a:custGeom>
            <a:blipFill>
              <a:blip r:embed="rId3"/>
              <a:stretch>
                <a:fillRect l="-65700" r="-44914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9735939" y="4660399"/>
            <a:ext cx="7292327" cy="2632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0" lvl="1" indent="-269875" algn="just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Quality: Teams ca</a:t>
            </a: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n review and improve each other's code.</a:t>
            </a:r>
            <a:endParaRPr lang="en-US" sz="25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539750" lvl="1" indent="-269875" algn="just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Acceleration: Faster branching, merging, and changes.</a:t>
            </a:r>
            <a:endParaRPr lang="en-US" sz="25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539750" lvl="1" indent="-269875" algn="just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Visibility: Better insight into release patterns and builds.</a:t>
            </a:r>
            <a:endParaRPr lang="en-US" sz="25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2080009" y="-1519728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425509" y="3364592"/>
            <a:ext cx="7913187" cy="554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0"/>
              </a:lnSpc>
            </a:pPr>
            <a:r>
              <a:rPr lang="en-US" sz="4000" b="1">
                <a:solidFill>
                  <a:srgbClr val="0000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CORE BENEFITS:</a:t>
            </a:r>
            <a:endParaRPr lang="en-US" sz="4000" b="1">
              <a:solidFill>
                <a:srgbClr val="00000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3597698" y="-1769921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3108709" y="7013575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986741" y="3126560"/>
            <a:ext cx="11301259" cy="5975541"/>
          </a:xfrm>
          <a:custGeom>
            <a:avLst/>
            <a:gdLst/>
            <a:ahLst/>
            <a:cxnLst/>
            <a:rect l="l" t="t" r="r" b="b"/>
            <a:pathLst>
              <a:path w="11301259" h="5975541">
                <a:moveTo>
                  <a:pt x="0" y="0"/>
                </a:moveTo>
                <a:lnTo>
                  <a:pt x="11301259" y="0"/>
                </a:lnTo>
                <a:lnTo>
                  <a:pt x="11301259" y="5975541"/>
                </a:lnTo>
                <a:lnTo>
                  <a:pt x="0" y="59755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73866" y="4208656"/>
            <a:ext cx="6565455" cy="350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0" lvl="1" indent="-269875" algn="just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Working Direct</a:t>
            </a: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ory: Where you modify and edit your files.</a:t>
            </a:r>
            <a:endParaRPr lang="en-US" sz="25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539750" lvl="1" indent="-269875" algn="just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Staging Area (Index): Where you organize snapshots of files before saving.</a:t>
            </a:r>
            <a:endParaRPr lang="en-US" sz="25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539750" lvl="1" indent="-269875" algn="just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Git Directory (Repository): Where snapshots are permanently stored.</a:t>
            </a:r>
            <a:endParaRPr lang="en-US" sz="25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500"/>
              </a:lnSpc>
            </a:pPr>
          </a:p>
        </p:txBody>
      </p:sp>
      <p:sp>
        <p:nvSpPr>
          <p:cNvPr id="6" name="TextBox 6"/>
          <p:cNvSpPr txBox="1"/>
          <p:nvPr/>
        </p:nvSpPr>
        <p:spPr>
          <a:xfrm>
            <a:off x="-1993857" y="1111704"/>
            <a:ext cx="10704720" cy="1033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760"/>
              </a:lnSpc>
            </a:pPr>
            <a:r>
              <a:rPr lang="en-US" sz="8000" b="1">
                <a:solidFill>
                  <a:srgbClr val="000000"/>
                </a:solidFill>
                <a:latin typeface="Oswald Bold" panose="00000800000000000000"/>
                <a:ea typeface="Oswald Bold" panose="00000800000000000000"/>
                <a:cs typeface="Oswald Bold" panose="00000800000000000000"/>
                <a:sym typeface="Oswald Bold" panose="00000800000000000000"/>
              </a:rPr>
              <a:t>THE</a:t>
            </a:r>
            <a:r>
              <a:rPr lang="en-US" sz="8000" b="1">
                <a:solidFill>
                  <a:srgbClr val="000000"/>
                </a:solidFill>
                <a:latin typeface="Oswald Bold" panose="00000800000000000000"/>
                <a:ea typeface="Oswald Bold" panose="00000800000000000000"/>
                <a:cs typeface="Oswald Bold" panose="00000800000000000000"/>
                <a:sym typeface="Oswald Bold" panose="00000800000000000000"/>
              </a:rPr>
              <a:t> GIT WORKFLOW</a:t>
            </a:r>
            <a:endParaRPr lang="en-US" sz="8000" b="1">
              <a:solidFill>
                <a:srgbClr val="000000"/>
              </a:solidFill>
              <a:latin typeface="Oswald Bold" panose="00000800000000000000"/>
              <a:ea typeface="Oswald Bold" panose="00000800000000000000"/>
              <a:cs typeface="Oswald Bold" panose="00000800000000000000"/>
              <a:sym typeface="Oswald Bold" panose="000008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0" y="3174185"/>
            <a:ext cx="7913187" cy="554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0"/>
              </a:lnSpc>
            </a:pPr>
            <a:r>
              <a:rPr lang="en-US" sz="4000" b="1">
                <a:solidFill>
                  <a:srgbClr val="0000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THE THREE MAIN STATES:</a:t>
            </a:r>
            <a:endParaRPr lang="en-US" sz="4000" b="1">
              <a:solidFill>
                <a:srgbClr val="00000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-1283890" y="7823200"/>
            <a:ext cx="7913187" cy="554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0"/>
              </a:lnSpc>
            </a:pPr>
            <a:r>
              <a:rPr lang="en-US" sz="4000" b="1">
                <a:solidFill>
                  <a:srgbClr val="0000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THE CYCLE:</a:t>
            </a:r>
            <a:endParaRPr lang="en-US" sz="4000" b="1">
              <a:solidFill>
                <a:srgbClr val="00000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8629650"/>
            <a:ext cx="6565455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0" lvl="1" indent="-269875" algn="just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Modify- Stage- Commit. </a:t>
            </a:r>
            <a:endParaRPr lang="en-US" sz="25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95454" y="6826250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080009" y="-1519728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36943" y="2760656"/>
            <a:ext cx="9171204" cy="4765687"/>
          </a:xfrm>
          <a:custGeom>
            <a:avLst/>
            <a:gdLst/>
            <a:ahLst/>
            <a:cxnLst/>
            <a:rect l="l" t="t" r="r" b="b"/>
            <a:pathLst>
              <a:path w="9171204" h="4765687">
                <a:moveTo>
                  <a:pt x="0" y="0"/>
                </a:moveTo>
                <a:lnTo>
                  <a:pt x="9171204" y="0"/>
                </a:lnTo>
                <a:lnTo>
                  <a:pt x="9171204" y="4765688"/>
                </a:lnTo>
                <a:lnTo>
                  <a:pt x="0" y="4765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329" t="-10419" r="-2754" b="-8331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693845" y="3024967"/>
            <a:ext cx="6565455" cy="879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0" lvl="1" indent="-269875" algn="just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 .git folder inside your p</a:t>
            </a: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roject that tracks all project history.</a:t>
            </a:r>
            <a:endParaRPr lang="en-US" sz="25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768522" y="1159971"/>
            <a:ext cx="7239625" cy="1033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sz="8000" b="1">
                <a:solidFill>
                  <a:srgbClr val="000000"/>
                </a:solidFill>
                <a:latin typeface="Oswald Bold" panose="00000800000000000000"/>
                <a:ea typeface="Oswald Bold" panose="00000800000000000000"/>
                <a:cs typeface="Oswald Bold" panose="00000800000000000000"/>
                <a:sym typeface="Oswald Bold" panose="00000800000000000000"/>
              </a:rPr>
              <a:t>REPO</a:t>
            </a:r>
            <a:r>
              <a:rPr lang="en-US" sz="8000" b="1">
                <a:solidFill>
                  <a:srgbClr val="000000"/>
                </a:solidFill>
                <a:latin typeface="Oswald Bold" panose="00000800000000000000"/>
                <a:ea typeface="Oswald Bold" panose="00000800000000000000"/>
                <a:cs typeface="Oswald Bold" panose="00000800000000000000"/>
                <a:sym typeface="Oswald Bold" panose="00000800000000000000"/>
              </a:rPr>
              <a:t>SITORIES</a:t>
            </a:r>
            <a:endParaRPr lang="en-US" sz="8000" b="1">
              <a:solidFill>
                <a:srgbClr val="000000"/>
              </a:solidFill>
              <a:latin typeface="Oswald Bold" panose="00000800000000000000"/>
              <a:ea typeface="Oswald Bold" panose="00000800000000000000"/>
              <a:cs typeface="Oswald Bold" panose="00000800000000000000"/>
              <a:sym typeface="Oswald Bold" panose="000008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796268" y="2241377"/>
            <a:ext cx="7913187" cy="554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0"/>
              </a:lnSpc>
            </a:pPr>
            <a:r>
              <a:rPr lang="en-US" sz="4000" b="1">
                <a:solidFill>
                  <a:srgbClr val="0000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THE CYCLE:</a:t>
            </a:r>
            <a:endParaRPr lang="en-US" sz="4000" b="1">
              <a:solidFill>
                <a:srgbClr val="00000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470134" y="4247342"/>
            <a:ext cx="7913187" cy="554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0"/>
              </a:lnSpc>
            </a:pPr>
            <a:r>
              <a:rPr lang="en-US" sz="4000" b="1">
                <a:solidFill>
                  <a:srgbClr val="0000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INITIALIZATION:</a:t>
            </a:r>
            <a:endParaRPr lang="en-US" sz="4000" b="1">
              <a:solidFill>
                <a:srgbClr val="00000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976816" y="6690880"/>
            <a:ext cx="7913187" cy="554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0"/>
              </a:lnSpc>
            </a:pPr>
            <a:r>
              <a:rPr lang="en-US" sz="4000" b="1">
                <a:solidFill>
                  <a:srgbClr val="0000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BEHIND THE SCENES:</a:t>
            </a:r>
            <a:endParaRPr lang="en-US" sz="4000" b="1">
              <a:solidFill>
                <a:srgbClr val="00000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693845" y="5030932"/>
            <a:ext cx="6565455" cy="1317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0" lvl="1" indent="-269875" algn="just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Command: git ini</a:t>
            </a: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t.</a:t>
            </a:r>
            <a:endParaRPr lang="en-US" sz="25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539750" lvl="1" indent="-269875" algn="just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Initializes a new repository in your current folder.</a:t>
            </a:r>
            <a:endParaRPr lang="en-US" sz="25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693845" y="7566025"/>
            <a:ext cx="6565455" cy="1317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0" lvl="1" indent="-269875" algn="just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The .git folder is hidden by d</a:t>
            </a: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efault.</a:t>
            </a:r>
            <a:endParaRPr lang="en-US" sz="25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539750" lvl="1" indent="-269875" algn="just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To View: Use the command ls -a in the terminal.</a:t>
            </a:r>
            <a:endParaRPr lang="en-US" sz="25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3108709" y="7013575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05326" y="3555354"/>
            <a:ext cx="9057753" cy="4417513"/>
          </a:xfrm>
          <a:custGeom>
            <a:avLst/>
            <a:gdLst/>
            <a:ahLst/>
            <a:cxnLst/>
            <a:rect l="l" t="t" r="r" b="b"/>
            <a:pathLst>
              <a:path w="9057753" h="4417513">
                <a:moveTo>
                  <a:pt x="0" y="0"/>
                </a:moveTo>
                <a:lnTo>
                  <a:pt x="9057753" y="0"/>
                </a:lnTo>
                <a:lnTo>
                  <a:pt x="9057753" y="4417513"/>
                </a:lnTo>
                <a:lnTo>
                  <a:pt x="0" y="44175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781" r="-6375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14390" y="1829920"/>
            <a:ext cx="7239625" cy="1033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60"/>
              </a:lnSpc>
            </a:pPr>
            <a:r>
              <a:rPr lang="en-US" sz="8000" b="1">
                <a:solidFill>
                  <a:srgbClr val="000000"/>
                </a:solidFill>
                <a:latin typeface="Oswald Bold" panose="00000800000000000000"/>
                <a:ea typeface="Oswald Bold" panose="00000800000000000000"/>
                <a:cs typeface="Oswald Bold" panose="00000800000000000000"/>
                <a:sym typeface="Oswald Bold" panose="00000800000000000000"/>
              </a:rPr>
              <a:t>COMMIT IN GIT</a:t>
            </a:r>
            <a:endParaRPr lang="en-US" sz="8000" b="1">
              <a:solidFill>
                <a:srgbClr val="000000"/>
              </a:solidFill>
              <a:latin typeface="Oswald Bold" panose="00000800000000000000"/>
              <a:ea typeface="Oswald Bold" panose="00000800000000000000"/>
              <a:cs typeface="Oswald Bold" panose="00000800000000000000"/>
              <a:sym typeface="Oswald Bold" panose="000008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9631" y="3003088"/>
            <a:ext cx="4388483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 b="1">
                <a:solidFill>
                  <a:srgbClr val="0000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Content:</a:t>
            </a:r>
            <a:endParaRPr lang="en-US" sz="4000" b="1">
              <a:solidFill>
                <a:srgbClr val="00000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068405" y="3851265"/>
            <a:ext cx="7448991" cy="1317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0" lvl="1" indent="-269875" algn="just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Acti</a:t>
            </a: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on: Create or modify a file in the Working Directory.</a:t>
            </a:r>
            <a:endParaRPr lang="en-US" sz="25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500"/>
              </a:lnSpc>
            </a:pPr>
          </a:p>
        </p:txBody>
      </p:sp>
      <p:sp>
        <p:nvSpPr>
          <p:cNvPr id="7" name="TextBox 7"/>
          <p:cNvSpPr txBox="1"/>
          <p:nvPr/>
        </p:nvSpPr>
        <p:spPr>
          <a:xfrm>
            <a:off x="10289631" y="5251892"/>
            <a:ext cx="4388483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 b="1">
                <a:solidFill>
                  <a:srgbClr val="0000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Check Status:</a:t>
            </a:r>
            <a:endParaRPr lang="en-US" sz="4000" b="1">
              <a:solidFill>
                <a:srgbClr val="00000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068405" y="6217092"/>
            <a:ext cx="7448991" cy="175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0" lvl="1" indent="-269875" algn="just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Command: git status.</a:t>
            </a:r>
            <a:endParaRPr lang="en-US" sz="25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539750" lvl="1" indent="-269875" algn="just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Shows differences between the working directory and staging area.</a:t>
            </a:r>
            <a:endParaRPr lang="en-US" sz="25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500"/>
              </a:lnSpc>
            </a:pPr>
          </a:p>
        </p:txBody>
      </p:sp>
      <p:sp>
        <p:nvSpPr>
          <p:cNvPr id="9" name="TextBox 9"/>
          <p:cNvSpPr txBox="1"/>
          <p:nvPr/>
        </p:nvSpPr>
        <p:spPr>
          <a:xfrm>
            <a:off x="10289631" y="8099867"/>
            <a:ext cx="4388483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 b="1">
                <a:solidFill>
                  <a:srgbClr val="0000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Result:</a:t>
            </a:r>
            <a:endParaRPr lang="en-US" sz="4000" b="1">
              <a:solidFill>
                <a:srgbClr val="00000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068405" y="8992042"/>
            <a:ext cx="7448991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0" lvl="1" indent="-269875" algn="just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New</a:t>
            </a: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files appear as "Untracked" </a:t>
            </a:r>
            <a:endParaRPr lang="en-US" sz="25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9631" y="1840398"/>
            <a:ext cx="7190895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 b="1">
                <a:solidFill>
                  <a:srgbClr val="0000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Step 1 — Edit Files</a:t>
            </a:r>
            <a:endParaRPr lang="en-US" sz="4000" b="1">
              <a:solidFill>
                <a:srgbClr val="00000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3597698" y="-1769921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3108709" y="7013575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284668" y="5143500"/>
            <a:ext cx="10146227" cy="5143500"/>
          </a:xfrm>
          <a:custGeom>
            <a:avLst/>
            <a:gdLst/>
            <a:ahLst/>
            <a:cxnLst/>
            <a:rect l="l" t="t" r="r" b="b"/>
            <a:pathLst>
              <a:path w="10146227" h="5143500">
                <a:moveTo>
                  <a:pt x="0" y="0"/>
                </a:moveTo>
                <a:lnTo>
                  <a:pt x="10146227" y="0"/>
                </a:lnTo>
                <a:lnTo>
                  <a:pt x="10146227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980" t="-6289" r="-6403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179170" y="2452147"/>
            <a:ext cx="10357222" cy="219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0" lvl="1" indent="-269875" algn="just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Action: Move files from Working Di</a:t>
            </a: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rectory to the Staging Area.</a:t>
            </a:r>
            <a:endParaRPr lang="en-US" sz="25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539750" lvl="1" indent="-269875" algn="just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Command: git add &lt;filename&gt;.</a:t>
            </a:r>
            <a:endParaRPr lang="en-US" sz="25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539750" lvl="1" indent="-269875" algn="just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Result:    </a:t>
            </a:r>
            <a:endParaRPr lang="en-US" sz="25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       1. File is ready to be included in the next commit.</a:t>
            </a:r>
            <a:endParaRPr lang="en-US" sz="25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       2. git status now shows "Changes to be committed" </a:t>
            </a:r>
            <a:endParaRPr lang="en-US" sz="25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487922" y="914400"/>
            <a:ext cx="7312157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 b="1">
                <a:solidFill>
                  <a:srgbClr val="0000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Step 2 — Add to Staging</a:t>
            </a:r>
            <a:endParaRPr lang="en-US" sz="4000" b="1">
              <a:solidFill>
                <a:srgbClr val="00000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95454" y="6826250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080009" y="-1519728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843665" y="4627746"/>
            <a:ext cx="11301259" cy="4788908"/>
          </a:xfrm>
          <a:custGeom>
            <a:avLst/>
            <a:gdLst/>
            <a:ahLst/>
            <a:cxnLst/>
            <a:rect l="l" t="t" r="r" b="b"/>
            <a:pathLst>
              <a:path w="11301259" h="4788908">
                <a:moveTo>
                  <a:pt x="0" y="0"/>
                </a:moveTo>
                <a:lnTo>
                  <a:pt x="11301259" y="0"/>
                </a:lnTo>
                <a:lnTo>
                  <a:pt x="11301259" y="4788908"/>
                </a:lnTo>
                <a:lnTo>
                  <a:pt x="0" y="47889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348992" y="1995671"/>
            <a:ext cx="13942747" cy="2632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0" lvl="1" indent="-269875" algn="just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Action: Pe</a:t>
            </a: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rmanently save the snapshot to the Repository.</a:t>
            </a:r>
            <a:endParaRPr lang="en-US" sz="25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539750" lvl="1" indent="-269875" algn="just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Command: git commit -m "Message".</a:t>
            </a:r>
            <a:endParaRPr lang="en-US" sz="25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539750" lvl="1" indent="-269875" algn="just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Verify History:</a:t>
            </a:r>
            <a:endParaRPr lang="en-US" sz="25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      1. Command: git log.</a:t>
            </a:r>
            <a:endParaRPr lang="en-US" sz="25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      2. Lists all commits in reverse chronological order.</a:t>
            </a:r>
            <a:endParaRPr lang="en-US" sz="25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500"/>
              </a:lnSpc>
            </a:pPr>
          </a:p>
        </p:txBody>
      </p:sp>
      <p:sp>
        <p:nvSpPr>
          <p:cNvPr id="6" name="TextBox 6"/>
          <p:cNvSpPr txBox="1"/>
          <p:nvPr/>
        </p:nvSpPr>
        <p:spPr>
          <a:xfrm>
            <a:off x="3637749" y="612775"/>
            <a:ext cx="7312157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 b="1">
                <a:solidFill>
                  <a:srgbClr val="0000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Step 3 — Make the Commit</a:t>
            </a:r>
            <a:endParaRPr lang="en-US" sz="4000" b="1">
              <a:solidFill>
                <a:srgbClr val="00000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41756" y="4513502"/>
            <a:ext cx="6804488" cy="1033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760"/>
              </a:lnSpc>
              <a:spcBef>
                <a:spcPct val="0"/>
              </a:spcBef>
            </a:pPr>
            <a:r>
              <a:rPr lang="en-US" sz="8000" b="1" u="none" strike="noStrike">
                <a:solidFill>
                  <a:srgbClr val="000000"/>
                </a:solidFill>
                <a:latin typeface="Oswald Bold" panose="00000800000000000000"/>
                <a:ea typeface="Oswald Bold" panose="00000800000000000000"/>
                <a:cs typeface="Oswald Bold" panose="00000800000000000000"/>
                <a:sym typeface="Oswald Bold" panose="00000800000000000000"/>
              </a:rPr>
              <a:t>THANK YOU</a:t>
            </a:r>
            <a:endParaRPr lang="en-US" sz="8000" b="1" u="none" strike="noStrike">
              <a:solidFill>
                <a:srgbClr val="000000"/>
              </a:solidFill>
              <a:latin typeface="Oswald Bold" panose="00000800000000000000"/>
              <a:ea typeface="Oswald Bold" panose="00000800000000000000"/>
              <a:cs typeface="Oswald Bold" panose="00000800000000000000"/>
              <a:sym typeface="Oswald Bold" panose="00000800000000000000"/>
            </a:endParaRPr>
          </a:p>
        </p:txBody>
      </p:sp>
      <p:sp>
        <p:nvSpPr>
          <p:cNvPr id="3" name="Freeform 3"/>
          <p:cNvSpPr/>
          <p:nvPr/>
        </p:nvSpPr>
        <p:spPr>
          <a:xfrm flipH="1">
            <a:off x="11568466" y="-1773049"/>
            <a:ext cx="9225459" cy="6105576"/>
          </a:xfrm>
          <a:custGeom>
            <a:avLst/>
            <a:gdLst/>
            <a:ahLst/>
            <a:cxnLst/>
            <a:rect l="l" t="t" r="r" b="b"/>
            <a:pathLst>
              <a:path w="9225459" h="6105576">
                <a:moveTo>
                  <a:pt x="9225459" y="0"/>
                </a:moveTo>
                <a:lnTo>
                  <a:pt x="0" y="0"/>
                </a:lnTo>
                <a:lnTo>
                  <a:pt x="0" y="6105576"/>
                </a:lnTo>
                <a:lnTo>
                  <a:pt x="9225459" y="6105576"/>
                </a:lnTo>
                <a:lnTo>
                  <a:pt x="9225459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2699521" y="7046525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2094</Words>
  <Application>WPS Presentation</Application>
  <PresentationFormat>On-screen Show (4:3)</PresentationFormat>
  <Paragraphs>103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SimSun</vt:lpstr>
      <vt:lpstr>Wingdings</vt:lpstr>
      <vt:lpstr>Oswald Bold</vt:lpstr>
      <vt:lpstr>Poppins Bold</vt:lpstr>
      <vt:lpstr>Arial</vt:lpstr>
      <vt:lpstr>Poppins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</dc:title>
  <dc:creator/>
  <cp:lastModifiedBy>1064</cp:lastModifiedBy>
  <cp:revision>2</cp:revision>
  <dcterms:created xsi:type="dcterms:W3CDTF">2006-08-16T00:00:00Z</dcterms:created>
  <dcterms:modified xsi:type="dcterms:W3CDTF">2025-12-17T02:24:41Z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C8C247623A7844D9B27DAAD3DD4B6DB5_13</vt:lpwstr>
  </property>
  <property fmtid="{D5CDD505-2E9C-101B-9397-08002B2CF9AE}" pid="3" name="KSOProductBuildVer">
    <vt:lpwstr>1033-12.2.0.23155</vt:lpwstr>
  </property>
</Properties>
</file>